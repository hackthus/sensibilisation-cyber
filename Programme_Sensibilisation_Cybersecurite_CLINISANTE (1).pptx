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4114800" cy="4114800"/>
          </a:xfrm>
          <a:prstGeom prst="ellipse">
            <a:avLst/>
          </a:prstGeom>
          <a:solidFill>
            <a:srgbClr val="1B4F72">
              <a:alpha val="35000"/>
            </a:srgbClr>
          </a:solidFill>
          <a:ln w="12700">
            <a:solidFill>
              <a:srgbClr val="1B4F72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-731520"/>
            <a:ext cx="2560320" cy="2560320"/>
          </a:xfrm>
          <a:prstGeom prst="ellipse">
            <a:avLst/>
          </a:prstGeom>
          <a:solidFill>
            <a:srgbClr val="1ABC9C">
              <a:alpha val="25000"/>
            </a:srgbClr>
          </a:solidFill>
          <a:ln w="12700">
            <a:solidFill>
              <a:srgbClr val="1ABC9C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3657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ABC9C"/>
                </a:solidFill>
              </a:rPr>
              <a:t>CLINISANTÉ SAS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841248"/>
            <a:ext cx="2926080" cy="274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41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CONFIDENTIEL — COMITÉ DE DIRECTION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8412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Programme de Sensibilisation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à la Cybersécurité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365760" y="3383280"/>
            <a:ext cx="320040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520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5F5EF"/>
                </a:solidFill>
              </a:rPr>
              <a:t>NEXA Digital School — Projet de Sensibilisation des Utilisateurs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977640"/>
            <a:ext cx="8412480" cy="914400"/>
          </a:xfrm>
          <a:prstGeom prst="rect">
            <a:avLst/>
          </a:prstGeom>
          <a:solidFill>
            <a:srgbClr val="1B4F72">
              <a:alpha val="40000"/>
            </a:srgbClr>
          </a:solidFill>
          <a:ln w="12700">
            <a:solidFill>
              <a:srgbClr val="1ABC9C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005072"/>
            <a:ext cx="82296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5F5EF"/>
                </a:solidFill>
              </a:rPr>
              <a:t>🎤 Claude — Résumé Exécutif &amp; Contexte    🎤 Durel — Populations Cibles &amp; Programme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D5F5EF"/>
                </a:solidFill>
              </a:rPr>
              <a:t>🎤 Arnold — Solutions &amp; KPI    🎤 Eric — Plan d'Action &amp; Conclusion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SOMMAIRE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731520" cy="71323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188720" y="1143000"/>
            <a:ext cx="7589520" cy="713232"/>
          </a:xfrm>
          <a:prstGeom prst="rect">
            <a:avLst/>
          </a:prstGeom>
          <a:solidFill>
            <a:srgbClr val="F4F6F8"/>
          </a:solidFill>
          <a:ln w="12700">
            <a:solidFill>
              <a:srgbClr val="E5E8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1143000"/>
            <a:ext cx="54864" cy="71323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188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2F"/>
                </a:solidFill>
              </a:rPr>
              <a:t>Résumé Exécutif &amp; Contexte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52704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</a:rPr>
              <a:t>3 incidents récents · Facteur humain · Urgence opérationnelle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406640" y="1280160"/>
            <a:ext cx="1280160" cy="438912"/>
          </a:xfrm>
          <a:prstGeom prst="rect">
            <a:avLst/>
          </a:prstGeom>
          <a:solidFill>
            <a:srgbClr val="1B4F72">
              <a:alpha val="15000"/>
            </a:srgbClr>
          </a:solidFill>
          <a:ln w="12700">
            <a:solidFill>
              <a:srgbClr val="1B4F72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0" y="128016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4F72"/>
                </a:solidFill>
              </a:rPr>
              <a:t>Claude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2057400"/>
            <a:ext cx="731520" cy="71323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057400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188720" y="2057400"/>
            <a:ext cx="7589520" cy="713232"/>
          </a:xfrm>
          <a:prstGeom prst="rect">
            <a:avLst/>
          </a:prstGeom>
          <a:solidFill>
            <a:srgbClr val="F4F6F8"/>
          </a:solidFill>
          <a:ln w="12700">
            <a:solidFill>
              <a:srgbClr val="E5E8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2057400"/>
            <a:ext cx="54864" cy="71323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2103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2F"/>
                </a:solidFill>
              </a:rPr>
              <a:t>Populations Cibles &amp; Programme 12 mois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244144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</a:rPr>
              <a:t>5 populations · Messages clés · Calendrier détaillé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06640" y="2194560"/>
            <a:ext cx="1280160" cy="438912"/>
          </a:xfrm>
          <a:prstGeom prst="rect">
            <a:avLst/>
          </a:prstGeom>
          <a:solidFill>
            <a:srgbClr val="1ABC9C">
              <a:alpha val="15000"/>
            </a:srgbClr>
          </a:solidFill>
          <a:ln w="12700">
            <a:solidFill>
              <a:srgbClr val="1ABC9C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0" y="219456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BC9C"/>
                </a:solidFill>
              </a:rPr>
              <a:t>Durel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2971800"/>
            <a:ext cx="731520" cy="7132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971800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1188720" y="2971800"/>
            <a:ext cx="7589520" cy="713232"/>
          </a:xfrm>
          <a:prstGeom prst="rect">
            <a:avLst/>
          </a:prstGeom>
          <a:solidFill>
            <a:srgbClr val="F4F6F8"/>
          </a:solidFill>
          <a:ln w="12700">
            <a:solidFill>
              <a:srgbClr val="E5E8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88720" y="2971800"/>
            <a:ext cx="54864" cy="7132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" y="3017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2F"/>
                </a:solidFill>
              </a:rPr>
              <a:t>Solutions Complémentaires &amp; KPI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335584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</a:rPr>
              <a:t>Benchmark outils · Indicateurs de performance · Reporting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06640" y="3108960"/>
            <a:ext cx="1280160" cy="438912"/>
          </a:xfrm>
          <a:prstGeom prst="rect">
            <a:avLst/>
          </a:prstGeom>
          <a:solidFill>
            <a:srgbClr val="F39C12">
              <a:alpha val="15000"/>
            </a:srgbClr>
          </a:solidFill>
          <a:ln w="12700">
            <a:solidFill>
              <a:srgbClr val="F39C12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06640" y="310896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39C12"/>
                </a:solidFill>
              </a:rPr>
              <a:t>Arnold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3886200"/>
            <a:ext cx="731520" cy="7132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886200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1188720" y="3886200"/>
            <a:ext cx="7589520" cy="713232"/>
          </a:xfrm>
          <a:prstGeom prst="rect">
            <a:avLst/>
          </a:prstGeom>
          <a:solidFill>
            <a:srgbClr val="F4F6F8"/>
          </a:solidFill>
          <a:ln w="12700">
            <a:solidFill>
              <a:srgbClr val="E5E8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88720" y="3886200"/>
            <a:ext cx="54864" cy="7132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1600" y="3931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2F"/>
                </a:solidFill>
              </a:rPr>
              <a:t>Plan d'Action Immédiat &amp; Conclusion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371600" y="427024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D7E"/>
                </a:solidFill>
              </a:rPr>
              <a:t>Actions semaine 1 · Budget · Message CODIR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406640" y="4023360"/>
            <a:ext cx="1280160" cy="438912"/>
          </a:xfrm>
          <a:prstGeom prst="rect">
            <a:avLst/>
          </a:prstGeom>
          <a:solidFill>
            <a:srgbClr val="E74C3C">
              <a:alpha val="15000"/>
            </a:srgbClr>
          </a:solidFill>
          <a:ln w="12700">
            <a:solidFill>
              <a:srgbClr val="E74C3C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0" y="402336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74C3C"/>
                </a:solidFill>
              </a:rPr>
              <a:t>Eric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800600"/>
            <a:ext cx="7315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B3D3"/>
                </a:solidFill>
              </a:rPr>
              <a:t>CLINISANTÉ — Programme de Sensibilisation à la Cybersécurité | Juin 2025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0" y="4800600"/>
            <a:ext cx="88696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B3D3"/>
                </a:solidFill>
              </a:rPr>
              <a:t>2 / 14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498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  |  Résumé Exécutif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132320" y="201168"/>
            <a:ext cx="1920240" cy="56692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20116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CLAUDE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52F"/>
                </a:solidFill>
              </a:rPr>
              <a:t>3 incidents récents — facteur humain identifié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2651760" cy="1554480"/>
          </a:xfrm>
          <a:prstGeom prst="rect">
            <a:avLst/>
          </a:prstGeom>
          <a:solidFill>
            <a:srgbClr val="F4F6F8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481328"/>
            <a:ext cx="265176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813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🎣  Phishing Silae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901952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52F"/>
                </a:solidFill>
              </a:rPr>
              <a:t>Credentials RH compromis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52F"/>
                </a:solidFill>
              </a:rPr>
              <a:t>40 salariés exposés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1481328"/>
            <a:ext cx="2651760" cy="1554480"/>
          </a:xfrm>
          <a:prstGeom prst="rect">
            <a:avLst/>
          </a:prstGeom>
          <a:solidFill>
            <a:srgbClr val="F4F6F8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481328"/>
            <a:ext cx="2651760" cy="38404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4813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🔌  Clé USB suspecte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1901952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52F"/>
                </a:solidFill>
              </a:rPr>
              <a:t>Connexion sur équipement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52F"/>
                </a:solidFill>
              </a:rPr>
              <a:t>biomédical — VLAN 50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481328"/>
            <a:ext cx="2651760" cy="1554480"/>
          </a:xfrm>
          <a:prstGeom prst="rect">
            <a:avLst/>
          </a:prstGeom>
          <a:solidFill>
            <a:srgbClr val="F4F6F8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481328"/>
            <a:ext cx="2651760" cy="38404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4813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⚠️  Signalement CNIL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1901952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52F"/>
                </a:solidFill>
              </a:rPr>
              <a:t>Transferts données non conformes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252F"/>
                </a:solidFill>
              </a:rPr>
              <a:t>SendGrid / patients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154680"/>
            <a:ext cx="841248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15468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BC9C"/>
                </a:solidFill>
              </a:rPr>
              <a:t>GAP HUMAIN IDENTIFIÉ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493008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52F"/>
                </a:solidFill>
              </a:rPr>
              <a:t>  ✦  Aucune campagne phishing simulé organisée à ce jour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52F"/>
                </a:solidFill>
              </a:rPr>
              <a:t>  ✦  Taux de complétion e-learning : seulement 68 %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A252F"/>
                </a:solidFill>
              </a:rPr>
              <a:t>  ✦  Budget cybersécurité formation : 3 000 € pour toute la DSI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00600"/>
            <a:ext cx="7315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B3D3"/>
                </a:solidFill>
              </a:rPr>
              <a:t>CLINISANTÉ — Programme de Sensibilisation à la Cybersécurité | Juin 2025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0" y="4800600"/>
            <a:ext cx="88696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B3D3"/>
                </a:solidFill>
              </a:rPr>
              <a:t>3 / 14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498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  |  Objectifs Stratégiques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132320" y="201168"/>
            <a:ext cx="1920240" cy="56692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20116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CLAUDE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069080" cy="1600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1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73152" cy="1600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298448"/>
            <a:ext cx="475488" cy="47548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298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120700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2F"/>
                </a:solidFill>
              </a:rPr>
              <a:t>Réduire le risque humain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15568" y="16459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</a:rPr>
              <a:t>Diminuer de 60 % le taux de clic sur phishing simulé en 12 mois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097280"/>
            <a:ext cx="4069080" cy="1600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1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097280"/>
            <a:ext cx="73152" cy="16002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73752" y="1298448"/>
            <a:ext cx="475488" cy="47548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1298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58968" y="120700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2F"/>
                </a:solidFill>
              </a:rPr>
              <a:t>Conformité réglementaire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58968" y="16459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</a:rPr>
              <a:t>Répondre aux exigences NIS 2, RGPD et HDS — entité importante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880360"/>
            <a:ext cx="4069080" cy="1600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1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880360"/>
            <a:ext cx="73152" cy="16002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0352" y="3081528"/>
            <a:ext cx="475488" cy="475488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081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15568" y="299008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2F"/>
                </a:solidFill>
              </a:rPr>
              <a:t>Culture de sécurité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15568" y="34290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</a:rPr>
              <a:t>Faire de chaque collaborateur un acteur conscient de la protection des données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880360"/>
            <a:ext cx="4069080" cy="1600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1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880360"/>
            <a:ext cx="73152" cy="1600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73752" y="3081528"/>
            <a:ext cx="475488" cy="475488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30815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58968" y="299008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2F"/>
                </a:solidFill>
              </a:rPr>
              <a:t>Détection &amp; signalement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58968" y="34290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</a:rPr>
              <a:t>Augmenter de 80 % les incidents signalés spontanément au RSSI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00600"/>
            <a:ext cx="7315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B3D3"/>
                </a:solidFill>
              </a:rPr>
              <a:t>CLINISANTÉ — Programme de Sensibilisation à la Cybersécurité | Juin 2025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0" y="4800600"/>
            <a:ext cx="88696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B3D3"/>
                </a:solidFill>
              </a:rPr>
              <a:t>4 / 14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498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  |  Populations Cibles — 220 Collaborateurs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132320" y="201168"/>
            <a:ext cx="1920240" cy="56692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20116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DUREL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850392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241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Population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51760" y="102412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Effectif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0" y="102412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Risque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0" y="1024128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Principal risque identifié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389888"/>
            <a:ext cx="8503920" cy="621792"/>
          </a:xfrm>
          <a:prstGeom prst="rect">
            <a:avLst/>
          </a:prstGeom>
          <a:solidFill>
            <a:srgbClr val="FFF5F5"/>
          </a:solidFill>
          <a:ln w="12700">
            <a:solidFill>
              <a:srgbClr val="DDE1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389888"/>
            <a:ext cx="2194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52F"/>
                </a:solidFill>
              </a:rPr>
              <a:t>Personnels médicaux &amp; paramédicaux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51760" y="1389888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D7E"/>
                </a:solidFill>
              </a:rPr>
              <a:t>~120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74720" y="1389888"/>
            <a:ext cx="914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🔴 Critique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34840" y="1389888"/>
            <a:ext cx="4709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</a:rPr>
              <a:t>Phishing ciblé · Shadow IT · Partage DICOM non conforme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048256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048256"/>
            <a:ext cx="2194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52F"/>
                </a:solidFill>
              </a:rPr>
              <a:t>Personnels administratifs &amp; RH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51760" y="2048256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D7E"/>
                </a:solidFill>
              </a:rPr>
              <a:t>~50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74720" y="2048256"/>
            <a:ext cx="914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🔴 Critique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34840" y="2048256"/>
            <a:ext cx="4709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</a:rPr>
              <a:t>Incident Silae avéré · Gestion mots de passe · Données paie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706624"/>
            <a:ext cx="8503920" cy="621792"/>
          </a:xfrm>
          <a:prstGeom prst="rect">
            <a:avLst/>
          </a:prstGeom>
          <a:solidFill>
            <a:srgbClr val="F4F6F8"/>
          </a:solidFill>
          <a:ln w="12700">
            <a:solidFill>
              <a:srgbClr val="DDE1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706624"/>
            <a:ext cx="2194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52F"/>
                </a:solidFill>
              </a:rPr>
              <a:t>Direction Générale &amp; CODIR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651760" y="2706624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D7E"/>
                </a:solidFill>
              </a:rPr>
              <a:t>~10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74720" y="2706624"/>
            <a:ext cx="914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🟠 Élevé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34840" y="2706624"/>
            <a:ext cx="4709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</a:rPr>
              <a:t>Whaling / BEC · Confidentialité stratégique · Responsabilité NIS 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364992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364992"/>
            <a:ext cx="2194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52F"/>
                </a:solidFill>
              </a:rPr>
              <a:t>Équipe DSI &amp; techniciens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651760" y="3364992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D7E"/>
                </a:solidFill>
              </a:rPr>
              <a:t>~10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474720" y="3364992"/>
            <a:ext cx="914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🟠 Élevé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434840" y="3364992"/>
            <a:ext cx="4709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</a:rPr>
              <a:t>Accès privilégiés · Gestion prestataires · Shadow IT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4023360"/>
            <a:ext cx="8503920" cy="621792"/>
          </a:xfrm>
          <a:prstGeom prst="rect">
            <a:avLst/>
          </a:prstGeom>
          <a:solidFill>
            <a:srgbClr val="F4F6F8"/>
          </a:solidFill>
          <a:ln w="12700">
            <a:solidFill>
              <a:srgbClr val="DDE1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023360"/>
            <a:ext cx="21945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52F"/>
                </a:solidFill>
              </a:rPr>
              <a:t>Prestataires &amp; télétravailleurs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651760" y="4023360"/>
            <a:ext cx="822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D6D7E"/>
                </a:solidFill>
              </a:rPr>
              <a:t>~30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474720" y="4023360"/>
            <a:ext cx="914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🟡 Modéré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434840" y="4023360"/>
            <a:ext cx="4709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</a:rPr>
              <a:t>VPN non sécurisé · Équipements personnels non conformes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800600"/>
            <a:ext cx="7315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B3D3"/>
                </a:solidFill>
              </a:rPr>
              <a:t>CLINISANTÉ — Programme de Sensibilisation à la Cybersécurité | Juin 2025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0" y="4800600"/>
            <a:ext cx="88696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B3D3"/>
                </a:solidFill>
              </a:rPr>
              <a:t>5 / 14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498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  |  Messages Clés par Population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132320" y="201168"/>
            <a:ext cx="1920240" cy="56692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20116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DUREL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804672"/>
          </a:xfrm>
          <a:prstGeom prst="rect">
            <a:avLst/>
          </a:prstGeom>
          <a:solidFill>
            <a:srgbClr val="F4F6F8"/>
          </a:solidFill>
          <a:ln w="12700">
            <a:solidFill>
              <a:srgbClr val="DDE1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78992"/>
            <a:ext cx="64008" cy="8046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16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🏥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51560" y="113385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Médecins &amp; paramédicaux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1481328"/>
            <a:ext cx="7635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2F"/>
                </a:solidFill>
              </a:rPr>
              <a:t>« Protégez les données de vos patients comme vous protégez leur santé »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52F"/>
                </a:solidFill>
              </a:rPr>
              <a:t>Jamais de données DICOM via outils non homologués — signaler tout incident biomédical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993392"/>
            <a:ext cx="8503920" cy="804672"/>
          </a:xfrm>
          <a:prstGeom prst="rect">
            <a:avLst/>
          </a:prstGeom>
          <a:solidFill>
            <a:srgbClr val="F4F6F8"/>
          </a:solidFill>
          <a:ln w="12700">
            <a:solidFill>
              <a:srgbClr val="DDE1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993392"/>
            <a:ext cx="64008" cy="8046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30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💼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51560" y="204825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</a:rPr>
              <a:t>Admin &amp; RH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395728"/>
            <a:ext cx="7635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2F"/>
                </a:solidFill>
              </a:rPr>
              <a:t>« Un clic peut exposer les données de paie de 40 collègues » (réf. Silae)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52F"/>
                </a:solidFill>
              </a:rPr>
              <a:t>Vérifier l'expéditeur · MFA activé · Jamais de données RH sur équipements personnels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907792"/>
            <a:ext cx="8503920" cy="804672"/>
          </a:xfrm>
          <a:prstGeom prst="rect">
            <a:avLst/>
          </a:prstGeom>
          <a:solidFill>
            <a:srgbClr val="F4F6F8"/>
          </a:solidFill>
          <a:ln w="12700">
            <a:solidFill>
              <a:srgbClr val="DDE1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907792"/>
            <a:ext cx="64008" cy="8046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44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👔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51560" y="296265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</a:rPr>
              <a:t>Direction &amp; CODIR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3310128"/>
            <a:ext cx="7635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2F"/>
                </a:solidFill>
              </a:rPr>
              <a:t>NIS 2 engage la responsabilité personnelle des dirigeants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52F"/>
                </a:solidFill>
              </a:rPr>
              <a:t>Valider la PSSI · Soutenir le budget sensibilisation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822192"/>
            <a:ext cx="8503920" cy="804672"/>
          </a:xfrm>
          <a:prstGeom prst="rect">
            <a:avLst/>
          </a:prstGeom>
          <a:solidFill>
            <a:srgbClr val="F4F6F8"/>
          </a:solidFill>
          <a:ln w="12700">
            <a:solidFill>
              <a:srgbClr val="DDE1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822192"/>
            <a:ext cx="64008" cy="804672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959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51560" y="387705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2F"/>
                </a:solidFill>
              </a:rPr>
              <a:t>DSI &amp; Prestataires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4224528"/>
            <a:ext cx="7635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2F"/>
                </a:solidFill>
              </a:rPr>
              <a:t>Rigueur sur accès prestataires (TechSupport Pro, BioMed Services)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52F"/>
                </a:solidFill>
              </a:rPr>
              <a:t>Traçabilité USB · Revue des droits d'administration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00600"/>
            <a:ext cx="7315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B3D3"/>
                </a:solidFill>
              </a:rPr>
              <a:t>CLINISANTÉ — Programme de Sensibilisation à la Cybersécurité | Juin 2025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0" y="4800600"/>
            <a:ext cx="88696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B3D3"/>
                </a:solidFill>
              </a:rPr>
              <a:t>6 / 14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498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  |  Programme sur 12 Mois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132320" y="201168"/>
            <a:ext cx="1920240" cy="56692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20116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DUREL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2029968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2412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T1 — Mois 1-3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408176"/>
            <a:ext cx="2029968" cy="265176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1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481328"/>
            <a:ext cx="18745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</a:rPr>
              <a:t>• Lancement officiel + Charte 2025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</a:rPr>
              <a:t>• Module e-learning fondamental (phishing, MDP, HDS)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</a:rPr>
              <a:t>• Phishing simulé #1 — mesure baseline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</a:rPr>
              <a:t>• Session dédiée CODIR/DG 1h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4059936"/>
            <a:ext cx="2029968" cy="457200"/>
          </a:xfrm>
          <a:prstGeom prst="rect">
            <a:avLst/>
          </a:prstGeom>
          <a:solidFill>
            <a:srgbClr val="E74C3C">
              <a:alpha val="20000"/>
            </a:srgbClr>
          </a:solidFill>
          <a:ln w="12700">
            <a:solidFill>
              <a:srgbClr val="E74C3C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059936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2F"/>
                </a:solidFill>
              </a:rPr>
              <a:t>👥 Tous (220) · Priorité Admin/RH + CODIR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59736" y="1024128"/>
            <a:ext cx="2029968" cy="38404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9736" y="102412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T2 — Mois 4-6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59736" y="1408176"/>
            <a:ext cx="2029968" cy="265176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1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51176" y="1481328"/>
            <a:ext cx="18745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</a:rPr>
              <a:t>• Ateliers présentiel médecins — DICOM, Shadow 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</a:rPr>
              <a:t>• Ateliers présentiel Admin/RH — phishing avancé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</a:rPr>
              <a:t>• Affiches sites Montpellier &amp; Sète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</a:rPr>
              <a:t>• Phishing simulé #2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59736" y="4059936"/>
            <a:ext cx="2029968" cy="457200"/>
          </a:xfrm>
          <a:prstGeom prst="rect">
            <a:avLst/>
          </a:prstGeom>
          <a:solidFill>
            <a:srgbClr val="F39C12">
              <a:alpha val="20000"/>
            </a:srgbClr>
          </a:solidFill>
          <a:ln w="12700">
            <a:solidFill>
              <a:srgbClr val="F39C12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05456" y="4059936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2F"/>
                </a:solidFill>
              </a:rPr>
              <a:t>👥 Personnels médicaux · Admin/RH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99432" y="1024128"/>
            <a:ext cx="2029968" cy="38404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99432" y="102412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T3 — Mois 7-9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99432" y="1408176"/>
            <a:ext cx="2029968" cy="265176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1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90872" y="1481328"/>
            <a:ext cx="18745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</a:rPr>
              <a:t>• Module e-learning avancé — NIS 2, HDS, télétravail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</a:rPr>
              <a:t>• Exercice tabletop crise cyber (CODIR + DSI)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</a:rPr>
              <a:t>• Formation prestataires (TechSupport Pro, BioMed)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</a:rPr>
              <a:t>• Phishing simulé #3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99432" y="4059936"/>
            <a:ext cx="2029968" cy="457200"/>
          </a:xfrm>
          <a:prstGeom prst="rect">
            <a:avLst/>
          </a:prstGeom>
          <a:solidFill>
            <a:srgbClr val="1ABC9C">
              <a:alpha val="20000"/>
            </a:srgbClr>
          </a:solidFill>
          <a:ln w="12700">
            <a:solidFill>
              <a:srgbClr val="1ABC9C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45152" y="4059936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2F"/>
                </a:solidFill>
              </a:rPr>
              <a:t>👥 DSI · CODIR · Prestataires · Télétravailleurs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739128" y="1024128"/>
            <a:ext cx="2029968" cy="38404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39128" y="1024128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T4 — Mois 10-12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39128" y="1408176"/>
            <a:ext cx="2029968" cy="265176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1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30568" y="1481328"/>
            <a:ext cx="187452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</a:rPr>
              <a:t>• Bilan annuel — rapport CODIR &amp; CA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</a:rPr>
              <a:t>• Révision programme N+1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</a:rPr>
              <a:t>• Mise à jour matrice risques humains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</a:rPr>
              <a:t>• Communication fin d'année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739128" y="4059936"/>
            <a:ext cx="2029968" cy="457200"/>
          </a:xfrm>
          <a:prstGeom prst="rect">
            <a:avLst/>
          </a:prstGeom>
          <a:solidFill>
            <a:srgbClr val="1B4F72">
              <a:alpha val="20000"/>
            </a:srgbClr>
          </a:solidFill>
          <a:ln w="12700">
            <a:solidFill>
              <a:srgbClr val="1B4F72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84848" y="4059936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2F"/>
                </a:solidFill>
              </a:rPr>
              <a:t>👥 Tous · CODIR/DG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00600"/>
            <a:ext cx="7315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B3D3"/>
                </a:solidFill>
              </a:rPr>
              <a:t>CLINISANTÉ — Programme de Sensibilisation à la Cybersécurité | Juin 2025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0" y="4800600"/>
            <a:ext cx="88696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B3D3"/>
                </a:solidFill>
              </a:rPr>
              <a:t>7 / 14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498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  |  Exemple — Affiche &amp; Module E-Learning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132320" y="201168"/>
            <a:ext cx="1920240" cy="56692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20116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DUREL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4114800" cy="3657600"/>
          </a:xfrm>
          <a:prstGeom prst="rect">
            <a:avLst/>
          </a:prstGeom>
          <a:solidFill>
            <a:srgbClr val="FFF9F9"/>
          </a:solidFill>
          <a:ln w="12700">
            <a:solidFill>
              <a:srgbClr val="FCCA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24128"/>
            <a:ext cx="4114800" cy="5029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2412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⚠️  ALERTE PHISHING — CLINISANTÉ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6002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🎣  Comment reconnaître un phishing 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993392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2F"/>
                </a:solidFill>
              </a:rPr>
              <a:t>✦  Expéditeur inconnu ou adresse suspecte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52F"/>
                </a:solidFill>
              </a:rPr>
              <a:t>✦  Demande urgente de saisir vos identifiants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52F"/>
                </a:solidFill>
              </a:rPr>
              <a:t>✦  Lien qui ne correspond pas au site officiel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52F"/>
                </a:solidFill>
              </a:rPr>
              <a:t>✦  Pièce jointe inattendue (.zip, .exe, .docm...)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218688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A"/>
                </a:solidFill>
              </a:rPr>
              <a:t>✅  Que faire 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547872"/>
            <a:ext cx="3886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52F"/>
                </a:solidFill>
              </a:rPr>
              <a:t>1. NE PAS cliquer
</a:t>
            </a:r>
            <a:pPr indent="0" marL="0">
              <a:buNone/>
            </a:pPr>
            <a:r>
              <a:rPr lang="en-US" sz="1000" dirty="0">
                <a:solidFill>
                  <a:srgbClr val="1A252F"/>
                </a:solidFill>
              </a:rPr>
              <a:t>2. Signaler : rssi@clinisante.fr / tél. 555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52F"/>
                </a:solidFill>
              </a:rPr>
              <a:t>3. Conserver le message pour analyse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52F"/>
                </a:solidFill>
              </a:rPr>
              <a:t>4. Si cliqué : changer MDP + appeler RSSI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024128"/>
            <a:ext cx="4114800" cy="3657600"/>
          </a:xfrm>
          <a:prstGeom prst="rect">
            <a:avLst/>
          </a:prstGeom>
          <a:solidFill>
            <a:srgbClr val="F0F8FF"/>
          </a:solidFill>
          <a:ln w="12700">
            <a:solidFill>
              <a:srgbClr val="C5D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024128"/>
            <a:ext cx="4114800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02412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📚  E-Learning — Quiz Anti-Phishing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600200"/>
            <a:ext cx="3977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4F72"/>
                </a:solidFill>
              </a:rPr>
              <a:t>SCÉNARIO 2 — E-mail reçu ce matin :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938528"/>
            <a:ext cx="3977640" cy="960120"/>
          </a:xfrm>
          <a:prstGeom prst="rect">
            <a:avLst/>
          </a:prstGeom>
          <a:solidFill>
            <a:srgbClr val="EAF2FC"/>
          </a:solidFill>
          <a:ln w="12700">
            <a:solidFill>
              <a:srgbClr val="B8D0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965960"/>
            <a:ext cx="38862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252F"/>
                </a:solidFill>
              </a:rPr>
              <a:t>De : support-silae@rh-portail.net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1A252F"/>
                </a:solidFill>
              </a:rPr>
              <a:t>Objet : ⚠️ ACTION REQUISE — Accès Silae expire dans 2h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1A252F"/>
                </a:solidFill>
              </a:rPr>
              <a:t>"Cliquez ici pour renouveler vos accès : http://silae-renew.rh-portail.net"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0" y="294436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52F"/>
                </a:solidFill>
              </a:rPr>
              <a:t>Que faites-vous ?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3282696"/>
            <a:ext cx="256032" cy="237744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282696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47488" y="3264408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</a:rPr>
              <a:t>Je clique rapidement pour ne pas perdre mon accès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3584448"/>
            <a:ext cx="256032" cy="23774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584448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47488" y="3566160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7A4A"/>
                </a:solidFill>
              </a:rPr>
              <a:t>Je signale au RSSI et j'attends sa réponse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3886200"/>
            <a:ext cx="256032" cy="237744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886200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47488" y="3867912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</a:rPr>
              <a:t>Je transfère à mon responsable pour avis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4187952"/>
            <a:ext cx="256032" cy="237744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4187952"/>
            <a:ext cx="256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47488" y="4169664"/>
            <a:ext cx="3657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</a:rPr>
              <a:t>Je l'ignore et le supprime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800600"/>
            <a:ext cx="7315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B3D3"/>
                </a:solidFill>
              </a:rPr>
              <a:t>CLINISANTÉ — Programme de Sensibilisation à la Cybersécurité | Juin 2025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0" y="4800600"/>
            <a:ext cx="88696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B3D3"/>
                </a:solidFill>
              </a:rPr>
              <a:t>8 / 14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498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 |  Benchmark des Solutions de Sensibilisation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132320" y="201168"/>
            <a:ext cx="1920240" cy="56692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20116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ARNOLD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8503920" cy="3383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24128"/>
            <a:ext cx="14173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Solution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801368" y="1024128"/>
            <a:ext cx="1280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Éditeur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099816" y="1024128"/>
            <a:ext cx="237744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Points forts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77256" y="1024128"/>
            <a:ext cx="1645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Limites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141464" y="1024128"/>
            <a:ext cx="11430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Coût/an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284464" y="1024128"/>
            <a:ext cx="594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Note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1362456"/>
            <a:ext cx="8503920" cy="585216"/>
          </a:xfrm>
          <a:prstGeom prst="rect">
            <a:avLst/>
          </a:prstGeom>
          <a:solidFill>
            <a:srgbClr val="F0FBF8"/>
          </a:solidFill>
          <a:ln w="12700">
            <a:solidFill>
              <a:srgbClr val="DDE1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362456"/>
            <a:ext cx="64008" cy="58521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362456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BC9C"/>
                </a:solidFill>
              </a:rPr>
              <a:t>Cyber School Hub ✅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801368" y="1362456"/>
            <a:ext cx="12618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D7E"/>
                </a:solidFill>
              </a:rPr>
              <a:t>Conscio Technologies 🇫🇷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099816" y="1362456"/>
            <a:ext cx="23408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2F"/>
                </a:solidFill>
              </a:rPr>
              <a:t>100% français · RGPD natif · Contenus santé · Support FR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477256" y="1362456"/>
            <a:ext cx="16276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74C3C"/>
                </a:solidFill>
              </a:rPr>
              <a:t>Moins de templates phishing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141464" y="1362456"/>
            <a:ext cx="110642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52F"/>
                </a:solidFill>
              </a:rPr>
              <a:t>8 000–12 000 €/an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284464" y="1362456"/>
            <a:ext cx="53035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⭐⭐⭐⭐⭐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1984248"/>
            <a:ext cx="85039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1984248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52F"/>
                </a:solidFill>
              </a:rPr>
              <a:t>KnowBe4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801368" y="1984248"/>
            <a:ext cx="12618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D7E"/>
                </a:solidFill>
              </a:rPr>
              <a:t>KnowBe4 (héberg. EU)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099816" y="1984248"/>
            <a:ext cx="23408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2F"/>
                </a:solidFill>
              </a:rPr>
              <a:t>+14 000 templates phishing · Intégration AD/SSO · Rapports détaillés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477256" y="1984248"/>
            <a:ext cx="16276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74C3C"/>
                </a:solidFill>
              </a:rPr>
              <a:t>Interface EN · Hébergement EU payant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141464" y="1984248"/>
            <a:ext cx="110642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52F"/>
                </a:solidFill>
              </a:rPr>
              <a:t>12 000–18 000 €/an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284464" y="1984248"/>
            <a:ext cx="53035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⭐⭐⭐⭐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2606040"/>
            <a:ext cx="8503920" cy="585216"/>
          </a:xfrm>
          <a:prstGeom prst="rect">
            <a:avLst/>
          </a:prstGeom>
          <a:solidFill>
            <a:srgbClr val="F4F6F8"/>
          </a:solidFill>
          <a:ln w="12700">
            <a:solidFill>
              <a:srgbClr val="DDE1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2606040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52F"/>
                </a:solidFill>
              </a:rPr>
              <a:t>Riot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801368" y="2606040"/>
            <a:ext cx="12618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D7E"/>
                </a:solidFill>
              </a:rPr>
              <a:t>Riot 🇫🇷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099816" y="2606040"/>
            <a:ext cx="23408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2F"/>
                </a:solidFill>
              </a:rPr>
              <a:t>IA personnalisée · Micro-learning · Mobile · 100% FR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477256" y="2606040"/>
            <a:ext cx="16276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74C3C"/>
                </a:solidFill>
              </a:rPr>
              <a:t>Phishing simulé moins développé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141464" y="2606040"/>
            <a:ext cx="110642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52F"/>
                </a:solidFill>
              </a:rPr>
              <a:t>6 000–9 000 €/an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284464" y="2606040"/>
            <a:ext cx="53035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⭐⭐⭐⭐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3227832"/>
            <a:ext cx="850392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3227832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52F"/>
                </a:solidFill>
              </a:rPr>
              <a:t>Proofpoint SAT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801368" y="3227832"/>
            <a:ext cx="12618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D7E"/>
                </a:solidFill>
              </a:rPr>
              <a:t>Proofpoint (US)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099816" y="3227832"/>
            <a:ext cx="23408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2F"/>
                </a:solidFill>
              </a:rPr>
              <a:t>Contenus très riches · Simulation phishing avancée · M365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477256" y="3227832"/>
            <a:ext cx="16276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74C3C"/>
                </a:solidFill>
              </a:rPr>
              <a:t>Tarif élevé · FR limité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141464" y="3227832"/>
            <a:ext cx="110642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52F"/>
                </a:solidFill>
              </a:rPr>
              <a:t>15 000–20 000 €/an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284464" y="3227832"/>
            <a:ext cx="53035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⭐⭐⭐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0040" y="3849624"/>
            <a:ext cx="8503920" cy="585216"/>
          </a:xfrm>
          <a:prstGeom prst="rect">
            <a:avLst/>
          </a:prstGeom>
          <a:solidFill>
            <a:srgbClr val="F4F6F8"/>
          </a:solidFill>
          <a:ln w="12700">
            <a:solidFill>
              <a:srgbClr val="DDE1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" y="3849624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52F"/>
                </a:solidFill>
              </a:rPr>
              <a:t>Usecure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801368" y="3849624"/>
            <a:ext cx="126187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D7E"/>
                </a:solidFill>
              </a:rPr>
              <a:t>usecure (RGPD compliant)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099816" y="3849624"/>
            <a:ext cx="234086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52F"/>
                </a:solidFill>
              </a:rPr>
              <a:t>Tarif compétitif · Déploiement rapide · Phishing inclus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477256" y="3849624"/>
            <a:ext cx="162763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74C3C"/>
                </a:solidFill>
              </a:rPr>
              <a:t>Contenus santé à personnaliser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141464" y="3849624"/>
            <a:ext cx="110642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52F"/>
                </a:solidFill>
              </a:rPr>
              <a:t>5 000–8 000 €/an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284464" y="3849624"/>
            <a:ext cx="530352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⭐⭐⭐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0040" y="4526280"/>
            <a:ext cx="8503920" cy="38404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52628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✅  Recommandation : Cyber School Hub (principale) + Riot (micro-learning soignants) — Budget total : 15 000 – 20 000 €/an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4800600"/>
            <a:ext cx="7315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B3D3"/>
                </a:solidFill>
              </a:rPr>
              <a:t>CLINISANTÉ — Programme de Sensibilisation à la Cybersécurité | Juin 2025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0" y="4800600"/>
            <a:ext cx="88696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B3D3"/>
                </a:solidFill>
              </a:rPr>
              <a:t>9 / 14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498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 |  Indicateurs de Performance — KPI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132320" y="201168"/>
            <a:ext cx="1920240" cy="56692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20116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ARNOLD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2011680" cy="1417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07899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&lt; 5 %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0040" y="176479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Taux de clic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phishing simulé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17627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8F8F5"/>
                </a:solidFill>
              </a:rPr>
              <a:t>vs baseline non mesuré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9736" y="1024128"/>
            <a:ext cx="2011680" cy="14173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59736" y="107899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100 %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459736" y="176479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Complétion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e-learning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59736" y="217627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8F8F5"/>
                </a:solidFill>
              </a:rPr>
              <a:t>vs 68 % actuellement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99432" y="1024128"/>
            <a:ext cx="2011680" cy="14173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99432" y="107899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+80 %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599432" y="176479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Incidents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signalés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99432" y="217627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8F8F5"/>
                </a:solidFill>
              </a:rPr>
              <a:t>spontanément au RSSI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739128" y="1024128"/>
            <a:ext cx="2011680" cy="14173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39128" y="107899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&gt; 70 %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739128" y="176479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Taux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signalement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39128" y="217627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8F8F5"/>
                </a:solidFill>
              </a:rPr>
              <a:t>phishing simulé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65760" y="25786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KPI Conformité &amp; Culture Sécurité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" y="2944368"/>
            <a:ext cx="850392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94436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Indicateur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532120" y="29443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Valeur initiale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269480" y="294436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Objectif 12 mois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3236976"/>
            <a:ext cx="8503920" cy="310896"/>
          </a:xfrm>
          <a:prstGeom prst="rect">
            <a:avLst/>
          </a:prstGeom>
          <a:solidFill>
            <a:srgbClr val="F4F6F8"/>
          </a:solidFill>
          <a:ln w="12700">
            <a:solidFill>
              <a:srgbClr val="DDE1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236976"/>
            <a:ext cx="54864" cy="31089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236976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</a:rPr>
              <a:t>Charte 2025 signée par les collaborateurs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532120" y="3236976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6D7E"/>
                </a:solidFill>
              </a:rPr>
              <a:t>Version 2019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269480" y="323697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74C3C"/>
                </a:solidFill>
              </a:rPr>
              <a:t>100 % (T1)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3566160"/>
            <a:ext cx="8503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3566160"/>
            <a:ext cx="54864" cy="31089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566160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</a:rPr>
              <a:t>PSSI présentée et validée par le CODIR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532120" y="3566160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6D7E"/>
                </a:solidFill>
              </a:rPr>
              <a:t>Non — 2020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269480" y="356616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9C12"/>
                </a:solidFill>
              </a:rPr>
              <a:t>Oui — T1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3895344"/>
            <a:ext cx="8503920" cy="310896"/>
          </a:xfrm>
          <a:prstGeom prst="rect">
            <a:avLst/>
          </a:prstGeom>
          <a:solidFill>
            <a:srgbClr val="F4F6F8"/>
          </a:solidFill>
          <a:ln w="12700">
            <a:solidFill>
              <a:srgbClr val="DDE1E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3895344"/>
            <a:ext cx="54864" cy="31089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3895344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</a:rPr>
              <a:t>Personnel médical formé en cybersécurité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532120" y="3895344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6D7E"/>
                </a:solidFill>
              </a:rPr>
              <a:t>0 %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269480" y="389534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BC9C"/>
                </a:solidFill>
              </a:rPr>
              <a:t>&gt; 90 %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0040" y="4224528"/>
            <a:ext cx="85039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" y="4224528"/>
            <a:ext cx="54864" cy="310896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4224528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</a:rPr>
              <a:t>Délai moyen de signalement incident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532120" y="4224528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6D7E"/>
                </a:solidFill>
              </a:rPr>
              <a:t>4 jours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269480" y="422452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4F72"/>
                </a:solidFill>
              </a:rPr>
              <a:t>&lt; 4 heures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0040" y="4553712"/>
            <a:ext cx="8503920" cy="310896"/>
          </a:xfrm>
          <a:prstGeom prst="rect">
            <a:avLst/>
          </a:prstGeom>
          <a:solidFill>
            <a:srgbClr val="F4F6F8"/>
          </a:solidFill>
          <a:ln w="12700">
            <a:solidFill>
              <a:srgbClr val="DDE1E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0040" y="4553712"/>
            <a:ext cx="54864" cy="310896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4553712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2F"/>
                </a:solidFill>
              </a:rPr>
              <a:t>Score perception sécurité (enquête)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532120" y="4553712"/>
            <a:ext cx="1645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6D7E"/>
                </a:solidFill>
              </a:rPr>
              <a:t>Non mesuré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269480" y="455371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</a:rPr>
              <a:t>+20 pts à T4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4800600"/>
            <a:ext cx="7315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B3D3"/>
                </a:solidFill>
              </a:rPr>
              <a:t>CLINISANTÉ — Programme de Sensibilisation à la Cybersécurité | Juin 2025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0" y="4800600"/>
            <a:ext cx="88696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B3D3"/>
                </a:solidFill>
              </a:rPr>
              <a:t>10 / 14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498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  |  Gouvernance du Programme &amp; Reporting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132320" y="201168"/>
            <a:ext cx="1920240" cy="56692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20116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ARNOLD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Structure de Pilotage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1508760"/>
            <a:ext cx="237744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15087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DGD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Mme Claire Ségur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71600" y="2423160"/>
            <a:ext cx="2377440" cy="8229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71600" y="24231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RSSI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M. Thomas Viala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(Pilote programme)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474720"/>
            <a:ext cx="1463040" cy="64008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34747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DRH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(Onboarding)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20240" y="3474720"/>
            <a:ext cx="1463040" cy="6400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920240" y="34747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DQC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(RGPD/NIS 2)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0" y="3474720"/>
            <a:ext cx="1463040" cy="6400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74720" y="34747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DMed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(Soignants)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0" y="2194560"/>
            <a:ext cx="0" cy="22860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7280" y="3246120"/>
            <a:ext cx="2194560" cy="0"/>
          </a:xfrm>
          <a:prstGeom prst="line">
            <a:avLst/>
          </a:prstGeom>
          <a:noFill/>
          <a:ln w="19050">
            <a:solidFill>
              <a:srgbClr val="1B4F7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" y="3246120"/>
            <a:ext cx="0" cy="228600"/>
          </a:xfrm>
          <a:prstGeom prst="line">
            <a:avLst/>
          </a:prstGeom>
          <a:noFill/>
          <a:ln w="19050">
            <a:solidFill>
              <a:srgbClr val="1B4F7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51760" y="3246120"/>
            <a:ext cx="0" cy="228600"/>
          </a:xfrm>
          <a:prstGeom prst="line">
            <a:avLst/>
          </a:prstGeom>
          <a:noFill/>
          <a:ln w="19050">
            <a:solidFill>
              <a:srgbClr val="1B4F7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06240" y="3246120"/>
            <a:ext cx="0" cy="228600"/>
          </a:xfrm>
          <a:prstGeom prst="line">
            <a:avLst/>
          </a:prstGeom>
          <a:noFill/>
          <a:ln w="19050">
            <a:solidFill>
              <a:srgbClr val="1B4F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0" y="10515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Cycle de Reporting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303520" y="1463040"/>
            <a:ext cx="3566160" cy="749808"/>
          </a:xfrm>
          <a:prstGeom prst="rect">
            <a:avLst/>
          </a:prstGeom>
          <a:solidFill>
            <a:srgbClr val="F4F6F8"/>
          </a:solidFill>
          <a:ln w="12700">
            <a:solidFill>
              <a:srgbClr val="DDE1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0" y="1463040"/>
            <a:ext cx="64008" cy="7498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40680" y="1517904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BC9C"/>
                </a:solidFill>
              </a:rPr>
              <a:t>Mensuel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40680" y="1828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</a:rPr>
              <a:t>RSSI → DSI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720840" y="16002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2F"/>
                </a:solidFill>
              </a:rPr>
              <a:t>Campagnes phishing simulé · Incidents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303520" y="2313432"/>
            <a:ext cx="3566160" cy="749808"/>
          </a:xfrm>
          <a:prstGeom prst="rect">
            <a:avLst/>
          </a:prstGeom>
          <a:solidFill>
            <a:srgbClr val="F4F6F8"/>
          </a:solidFill>
          <a:ln w="12700">
            <a:solidFill>
              <a:srgbClr val="DDE1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0" y="2313432"/>
            <a:ext cx="64008" cy="7498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0680" y="2368296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</a:rPr>
              <a:t>Trimestriel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40680" y="26791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</a:rPr>
              <a:t>RSSI → CODIR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720840" y="245059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2F"/>
                </a:solidFill>
              </a:rPr>
              <a:t>Dashboard KPI complet · Plan d'action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03520" y="3163824"/>
            <a:ext cx="3566160" cy="749808"/>
          </a:xfrm>
          <a:prstGeom prst="rect">
            <a:avLst/>
          </a:prstGeom>
          <a:solidFill>
            <a:srgbClr val="F4F6F8"/>
          </a:solidFill>
          <a:ln w="12700">
            <a:solidFill>
              <a:srgbClr val="DDE1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0" y="3163824"/>
            <a:ext cx="64008" cy="7498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40680" y="321868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72"/>
                </a:solidFill>
              </a:rPr>
              <a:t>Annuel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40680" y="35295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</a:rPr>
              <a:t>RSSI → CA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720840" y="330098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2F"/>
                </a:solidFill>
              </a:rPr>
              <a:t>Bilan programme · Budget N+1 · Conformité NIS 2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303520" y="4014216"/>
            <a:ext cx="3566160" cy="749808"/>
          </a:xfrm>
          <a:prstGeom prst="rect">
            <a:avLst/>
          </a:prstGeom>
          <a:solidFill>
            <a:srgbClr val="F4F6F8"/>
          </a:solidFill>
          <a:ln w="12700">
            <a:solidFill>
              <a:srgbClr val="DDE1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03520" y="4014216"/>
            <a:ext cx="64008" cy="749808"/>
          </a:xfrm>
          <a:prstGeom prst="rect">
            <a:avLst/>
          </a:prstGeom>
          <a:solidFill>
            <a:srgbClr val="1A252F"/>
          </a:solidFill>
          <a:ln w="12700">
            <a:solidFill>
              <a:srgbClr val="1A252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40680" y="406908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52F"/>
                </a:solidFill>
              </a:rPr>
              <a:t>Temps réel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40680" y="43799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D6D7E"/>
                </a:solidFill>
              </a:rPr>
              <a:t>Plateforme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720840" y="4151376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2F"/>
                </a:solidFill>
              </a:rPr>
              <a:t>Tableau de bord accessible en continu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03520" y="4617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E74C3C"/>
                </a:solidFill>
              </a:rPr>
              <a:t>Escalade : tout incident comportemental → RSSI sous 24h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800600"/>
            <a:ext cx="7315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B3D3"/>
                </a:solidFill>
              </a:rPr>
              <a:t>CLINISANTÉ — Programme de Sensibilisation à la Cybersécurité | Juin 2025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0" y="4800600"/>
            <a:ext cx="88696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B3D3"/>
                </a:solidFill>
              </a:rPr>
              <a:t>11 / 14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498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 |  Plan d'Action Immédiat — Semaine 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132320" y="201168"/>
            <a:ext cx="1920240" cy="56692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20116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ERIC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694944"/>
          </a:xfrm>
          <a:prstGeom prst="rect">
            <a:avLst/>
          </a:prstGeom>
          <a:solidFill>
            <a:srgbClr val="FFF5F5"/>
          </a:solidFill>
          <a:ln w="12700">
            <a:solidFill>
              <a:srgbClr val="FA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51560"/>
            <a:ext cx="64008" cy="69494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188720"/>
            <a:ext cx="411480" cy="4114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0976" y="110642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Validation CODIR 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0976" y="14173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</a:rPr>
              <a:t>Présentation et validation du programme par la DGD (Mme Ségur) et le Comité de Direction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0" y="1197864"/>
            <a:ext cx="141732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0" y="1197864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👤 RSSI + DGD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1801368"/>
            <a:ext cx="8503920" cy="694944"/>
          </a:xfrm>
          <a:prstGeom prst="rect">
            <a:avLst/>
          </a:prstGeom>
          <a:solidFill>
            <a:srgbClr val="FFF5F5"/>
          </a:solidFill>
          <a:ln w="12700">
            <a:solidFill>
              <a:srgbClr val="FA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801368"/>
            <a:ext cx="64008" cy="69494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1938528"/>
            <a:ext cx="411480" cy="4114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1938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50976" y="18562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Sélection plateforme 🔴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50976" y="2167128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</a:rPr>
              <a:t>Lancement appel d'offres : Conscio Technologies (Cyber School Hub) et Riot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0" y="1947672"/>
            <a:ext cx="141732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1947672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👤 RSSI + DSI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2551176"/>
            <a:ext cx="8503920" cy="694944"/>
          </a:xfrm>
          <a:prstGeom prst="rect">
            <a:avLst/>
          </a:prstGeom>
          <a:solidFill>
            <a:srgbClr val="FFF5F5"/>
          </a:solidFill>
          <a:ln w="12700">
            <a:solidFill>
              <a:srgbClr val="FA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551176"/>
            <a:ext cx="64008" cy="694944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" y="2688336"/>
            <a:ext cx="411480" cy="41148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26883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50976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Mise à jour Charte 🔴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0976" y="291693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</a:rPr>
              <a:t>Révision et mise à jour de la Charte informatique 2019 → version 2025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0" y="2697480"/>
            <a:ext cx="141732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0" y="2697480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👤 RSSI + DRH + DQC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" y="3300984"/>
            <a:ext cx="8503920" cy="694944"/>
          </a:xfrm>
          <a:prstGeom prst="rect">
            <a:avLst/>
          </a:prstGeom>
          <a:solidFill>
            <a:srgbClr val="F4F6F8"/>
          </a:solidFill>
          <a:ln w="12700">
            <a:solidFill>
              <a:srgbClr val="DDE1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300984"/>
            <a:ext cx="64008" cy="69494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8912" y="3438144"/>
            <a:ext cx="411480" cy="41148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34381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50976" y="33558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2F"/>
                </a:solidFill>
              </a:rPr>
              <a:t>Session Direction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50976" y="3666744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</a:rPr>
              <a:t>Planification session dédiée DG &amp; Conseil d'Administration — enjeux cyber NIS 2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15200" y="3447288"/>
            <a:ext cx="141732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0" y="3447288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👤 RSSI + DGD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20040" y="4050792"/>
            <a:ext cx="8503920" cy="694944"/>
          </a:xfrm>
          <a:prstGeom prst="rect">
            <a:avLst/>
          </a:prstGeom>
          <a:solidFill>
            <a:srgbClr val="F4F6F8"/>
          </a:solidFill>
          <a:ln w="12700">
            <a:solidFill>
              <a:srgbClr val="DDE1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4050792"/>
            <a:ext cx="64008" cy="69494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8912" y="4187952"/>
            <a:ext cx="411480" cy="41148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" y="4187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50976" y="410565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2F"/>
                </a:solidFill>
              </a:rPr>
              <a:t>Budget programme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50976" y="441655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</a:rPr>
              <a:t>Validation budget 15 000 – 20 000 €/an dans le cadre du budget NIS 2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315200" y="4197096"/>
            <a:ext cx="141732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0" y="4197096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👤 DGD + CODIR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800600"/>
            <a:ext cx="7315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B3D3"/>
                </a:solidFill>
              </a:rPr>
              <a:t>CLINISANTÉ — Programme de Sensibilisation à la Cybersécurité | Juin 2025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0" y="4800600"/>
            <a:ext cx="88696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B3D3"/>
                </a:solidFill>
              </a:rPr>
              <a:t>12 / 14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498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04  |  Budget &amp; Synthèse du Programme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132320" y="201168"/>
            <a:ext cx="1920240" cy="566928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201168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ERIC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Budget Annuel Recommandé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4937760" cy="566928"/>
          </a:xfrm>
          <a:prstGeom prst="rect">
            <a:avLst/>
          </a:prstGeom>
          <a:solidFill>
            <a:srgbClr val="F4F6F8"/>
          </a:solidFill>
          <a:ln w="12700">
            <a:solidFill>
              <a:srgbClr val="DDE1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81328"/>
            <a:ext cx="54864" cy="56692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727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2F"/>
                </a:solidFill>
              </a:rPr>
              <a:t>Cyber School Hub (Conscio)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0" y="157276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BC9C"/>
                </a:solidFill>
              </a:rPr>
              <a:t>8 000 – 12 000 €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21408"/>
            <a:ext cx="4937760" cy="566928"/>
          </a:xfrm>
          <a:prstGeom prst="rect">
            <a:avLst/>
          </a:prstGeom>
          <a:solidFill>
            <a:srgbClr val="F4F6F8"/>
          </a:solidFill>
          <a:ln w="12700">
            <a:solidFill>
              <a:srgbClr val="DDE1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121408"/>
            <a:ext cx="54864" cy="5669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2128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2F"/>
                </a:solidFill>
              </a:rPr>
              <a:t>Riot (micro-learning soignants)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0" y="221284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39C12"/>
                </a:solidFill>
              </a:rPr>
              <a:t>4 000 – 6 000 €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761488"/>
            <a:ext cx="4937760" cy="566928"/>
          </a:xfrm>
          <a:prstGeom prst="rect">
            <a:avLst/>
          </a:prstGeom>
          <a:solidFill>
            <a:srgbClr val="F4F6F8"/>
          </a:solidFill>
          <a:ln w="12700">
            <a:solidFill>
              <a:srgbClr val="DDE1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761488"/>
            <a:ext cx="54864" cy="56692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8529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2F"/>
                </a:solidFill>
              </a:rPr>
              <a:t>Ateliers présentiel (intervenants)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0" y="285292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B4F72"/>
                </a:solidFill>
              </a:rPr>
              <a:t>2 000 – 3 000 €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401568"/>
            <a:ext cx="4937760" cy="566928"/>
          </a:xfrm>
          <a:prstGeom prst="rect">
            <a:avLst/>
          </a:prstGeom>
          <a:solidFill>
            <a:srgbClr val="F4F6F8"/>
          </a:solidFill>
          <a:ln w="12700">
            <a:solidFill>
              <a:srgbClr val="DDE1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401568"/>
            <a:ext cx="54864" cy="566928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4930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52F"/>
                </a:solidFill>
              </a:rPr>
              <a:t>Matériel communication (affiches...)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349300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6D7E"/>
                </a:solidFill>
              </a:rPr>
              <a:t>500 – 1 000 €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069080"/>
            <a:ext cx="493776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069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TOTAL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286000" y="40690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BC9C"/>
                </a:solidFill>
              </a:rPr>
              <a:t>15 000 – 22 000 €/an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77840" y="1051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Les 3 Piliers du Programme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577840" y="1481328"/>
            <a:ext cx="3291840" cy="8046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623560" y="15727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📘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263640" y="154533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Sensibiliser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263640" y="190195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8F5"/>
                </a:solidFill>
              </a:rPr>
              <a:t>E-learning · Ateliers · Micro-learning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577840" y="2395728"/>
            <a:ext cx="3291840" cy="8046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623560" y="24871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🎣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263640" y="245973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Tester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263640" y="281635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8F5"/>
                </a:solidFill>
              </a:rPr>
              <a:t>3 campagnes phishing simulé / an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577840" y="3310128"/>
            <a:ext cx="3291840" cy="8046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623560" y="34015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6263640" y="337413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Mesurer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263640" y="373075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8F5"/>
                </a:solidFill>
              </a:rPr>
              <a:t>KPI · Reporting · Plan N+1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800600"/>
            <a:ext cx="73152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B3D3"/>
                </a:solidFill>
              </a:rPr>
              <a:t>CLINISANTÉ — Programme de Sensibilisation à la Cybersécurité | Juin 2025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0" y="4800600"/>
            <a:ext cx="886968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FB3D3"/>
                </a:solidFill>
              </a:rPr>
              <a:t>13 / 14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926080"/>
            <a:ext cx="4572000" cy="4572000"/>
          </a:xfrm>
          <a:prstGeom prst="ellipse">
            <a:avLst/>
          </a:prstGeom>
          <a:solidFill>
            <a:srgbClr val="1B4F72">
              <a:alpha val="25000"/>
            </a:srgbClr>
          </a:solidFill>
          <a:ln w="12700">
            <a:solidFill>
              <a:srgbClr val="1B4F72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371600"/>
            <a:ext cx="3657600" cy="3657600"/>
          </a:xfrm>
          <a:prstGeom prst="ellipse">
            <a:avLst/>
          </a:prstGeom>
          <a:solidFill>
            <a:srgbClr val="1ABC9C">
              <a:alpha val="20000"/>
            </a:srgbClr>
          </a:solidFill>
          <a:ln w="12700">
            <a:solidFill>
              <a:srgbClr val="1ABC9C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3200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1ABC9C"/>
                </a:solidFill>
              </a:rPr>
              <a:t>CLINISANTÉ SAS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822960"/>
            <a:ext cx="7315200" cy="1828800"/>
          </a:xfrm>
          <a:prstGeom prst="rect">
            <a:avLst/>
          </a:prstGeom>
          <a:solidFill>
            <a:srgbClr val="1B4F72">
              <a:alpha val="30000"/>
            </a:srgbClr>
          </a:solidFill>
          <a:ln w="12700">
            <a:solidFill>
              <a:srgbClr val="1ABC9C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877824"/>
            <a:ext cx="71323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</a:rPr>
              <a:t>« La sécurité de nos patients commence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</a:rPr>
              <a:t>par la vigilance de nos collaborateurs.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</a:rPr>
              <a:t>Investir dans la sensibilisation, c'est protéger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</a:rPr>
              <a:t>CLINISANTÉ, ses patients et sa réputation. »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286000" y="2788920"/>
            <a:ext cx="4572000" cy="640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944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5F5EF"/>
                </a:solidFill>
              </a:rPr>
              <a:t>Message au Comité de Direction — NEXA Digital School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45643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Claude</a:t>
            </a:r>
            <a:pPr algn="ctr" indent="0" marL="0">
              <a:buNone/>
            </a:pPr>
            <a:r>
              <a:rPr lang="en-US" sz="1300" dirty="0">
                <a:solidFill>
                  <a:srgbClr val="1ABC9C"/>
                </a:solidFill>
              </a:rPr>
              <a:t>  · 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Durel</a:t>
            </a:r>
            <a:pPr algn="ctr" indent="0" marL="0">
              <a:buNone/>
            </a:pPr>
            <a:r>
              <a:rPr lang="en-US" sz="1300" dirty="0">
                <a:solidFill>
                  <a:srgbClr val="1ABC9C"/>
                </a:solidFill>
              </a:rPr>
              <a:t>  · 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Arnold</a:t>
            </a:r>
            <a:pPr algn="ctr" indent="0" marL="0">
              <a:buNone/>
            </a:pPr>
            <a:r>
              <a:rPr lang="en-US" sz="1300" dirty="0">
                <a:solidFill>
                  <a:srgbClr val="1ABC9C"/>
                </a:solidFill>
              </a:rPr>
              <a:t>  · 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Eric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91363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</a:rPr>
              <a:t>NEXA Digital School — Juin 2025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4343400"/>
            <a:ext cx="4023360" cy="5029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43434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Questions &amp; Discussion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Programme de Sensibilisation à la Cybersécurité — CLINISANTÉ</dc:title>
  <dc:subject>PptxGenJS Presentation</dc:subject>
  <dc:creator>PptxGenJS</dc:creator>
  <cp:lastModifiedBy>PptxGenJS</cp:lastModifiedBy>
  <cp:revision>1</cp:revision>
  <dcterms:created xsi:type="dcterms:W3CDTF">2026-05-14T22:36:03Z</dcterms:created>
  <dcterms:modified xsi:type="dcterms:W3CDTF">2026-05-14T22:36:03Z</dcterms:modified>
</cp:coreProperties>
</file>